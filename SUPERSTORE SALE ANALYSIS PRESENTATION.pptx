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57" d="100"/>
          <a:sy n="57" d="100"/>
        </p:scale>
        <p:origin x="7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A069CB8-F204-4D06-B913-C5A26A89888A}" type="datetimeFigureOut">
              <a:rPr lang="en-US" dirty="0"/>
              <a:t>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0BB376-B19C-488D-ABEB-03C7E6E9E3E0}" type="datetimeFigureOut">
              <a:rPr lang="en-US" dirty="0"/>
              <a:t>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29637A9-119A-49DA-BD12-AAC58B377D80}"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6F077B-A50F-4D64-8574-E2D6A98A5553}" type="datetimeFigureOut">
              <a:rPr lang="en-US" dirty="0"/>
              <a:t>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9E2A62-1983-43A1-A163-D8AA46534C80}" type="datetimeFigureOut">
              <a:rPr lang="en-US" dirty="0"/>
              <a:t>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8F3E3B-34E3-4345-B2A1-994B83598A9C}" type="datetimeFigureOut">
              <a:rPr lang="en-US" dirty="0"/>
              <a:t>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816C96-82A1-4D77-8ADA-627AC6FE3D65}" type="datetimeFigureOut">
              <a:rPr lang="en-US" dirty="0"/>
              <a:t>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102C1E-28F2-47E9-802D-339E64E2F920}" type="datetimeFigureOut">
              <a:rPr lang="en-US" dirty="0"/>
              <a:t>2/8/2026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4271A48-F18A-45B3-BC05-1E27DA3F88AF}" type="datetimeFigureOut">
              <a:rPr lang="en-US" dirty="0"/>
              <a:t>2/8/2026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B747F8-9654-4282-85D2-65F41AAE7A75}" type="datetimeFigureOut">
              <a:rPr lang="en-US" dirty="0"/>
              <a:t>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B6E300-0A13-4A81-945A-7333C271A069}" type="datetimeFigureOut">
              <a:rPr lang="en-US" dirty="0"/>
              <a:t>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671962-1EA4-46E7-BCB0-F36CE46D1A59}" type="datetimeFigureOut">
              <a:rPr lang="en-US" dirty="0"/>
              <a:t>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C5B261-8843-42D1-AAFC-05E20E2D9B97}" type="datetimeFigureOut">
              <a:rPr lang="en-US" dirty="0"/>
              <a:t>2/8/2026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E21F3-2819-20BD-EEB2-7ED00B2610B3}"/>
              </a:ext>
            </a:extLst>
          </p:cNvPr>
          <p:cNvSpPr>
            <a:spLocks noGrp="1"/>
          </p:cNvSpPr>
          <p:nvPr>
            <p:ph type="ctrTitle"/>
          </p:nvPr>
        </p:nvSpPr>
        <p:spPr>
          <a:xfrm>
            <a:off x="660400" y="2133600"/>
            <a:ext cx="10938932" cy="2288154"/>
          </a:xfrm>
        </p:spPr>
        <p:txBody>
          <a:bodyPr>
            <a:normAutofit/>
          </a:bodyPr>
          <a:lstStyle/>
          <a:p>
            <a:pPr algn="ctr"/>
            <a:r>
              <a:rPr lang="en-US" b="1" dirty="0">
                <a:solidFill>
                  <a:schemeClr val="accent4">
                    <a:lumMod val="50000"/>
                  </a:schemeClr>
                </a:solidFill>
                <a:latin typeface="Arial" panose="020B0604020202020204" pitchFamily="34" charset="0"/>
                <a:cs typeface="Arial" panose="020B0604020202020204" pitchFamily="34" charset="0"/>
              </a:rPr>
              <a:t>SUPERSTORE SALE ANALYSIS</a:t>
            </a:r>
            <a:endParaRPr lang="en-NG" b="1" dirty="0">
              <a:solidFill>
                <a:schemeClr val="accent4">
                  <a:lumMod val="50000"/>
                </a:schemeClr>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C1776DD2-244F-A1C6-6FBC-D52DBAB84674}"/>
              </a:ext>
            </a:extLst>
          </p:cNvPr>
          <p:cNvSpPr>
            <a:spLocks noGrp="1"/>
          </p:cNvSpPr>
          <p:nvPr>
            <p:ph type="subTitle" idx="1"/>
          </p:nvPr>
        </p:nvSpPr>
        <p:spPr>
          <a:xfrm>
            <a:off x="1066799" y="4421754"/>
            <a:ext cx="10532533" cy="624379"/>
          </a:xfrm>
        </p:spPr>
        <p:txBody>
          <a:bodyPr>
            <a:normAutofit/>
          </a:bodyPr>
          <a:lstStyle/>
          <a:p>
            <a:r>
              <a:rPr lang="en-US" sz="1800" b="1" i="1" dirty="0">
                <a:solidFill>
                  <a:schemeClr val="accent4">
                    <a:lumMod val="50000"/>
                  </a:schemeClr>
                </a:solidFill>
                <a:latin typeface="Arial" panose="020B0604020202020204" pitchFamily="34" charset="0"/>
                <a:cs typeface="Arial" panose="020B0604020202020204" pitchFamily="34" charset="0"/>
              </a:rPr>
              <a:t>Analysis ON A SUPERSTORE DATASET TO UNCOVER RELEVANT INSIGHTS</a:t>
            </a:r>
            <a:endParaRPr lang="en-NG" sz="1800" b="1" i="1" dirty="0">
              <a:solidFill>
                <a:schemeClr val="accent4">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2700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0C4EDD2-85A2-B180-5045-77E7E89E73B2}"/>
              </a:ext>
            </a:extLst>
          </p:cNvPr>
          <p:cNvSpPr>
            <a:spLocks noGrp="1"/>
          </p:cNvSpPr>
          <p:nvPr>
            <p:ph type="title"/>
          </p:nvPr>
        </p:nvSpPr>
        <p:spPr>
          <a:xfrm>
            <a:off x="2038773" y="314327"/>
            <a:ext cx="8849360" cy="1450757"/>
          </a:xfrm>
        </p:spPr>
        <p:txBody>
          <a:bodyPr>
            <a:normAutofit fontScale="90000"/>
          </a:bodyPr>
          <a:lstStyle/>
          <a:p>
            <a:r>
              <a:rPr lang="en-US" sz="9600" b="1" dirty="0">
                <a:solidFill>
                  <a:schemeClr val="accent4">
                    <a:lumMod val="50000"/>
                  </a:schemeClr>
                </a:solidFill>
                <a:latin typeface="Arial" panose="020B0604020202020204" pitchFamily="34" charset="0"/>
                <a:cs typeface="Arial" panose="020B0604020202020204" pitchFamily="34" charset="0"/>
              </a:rPr>
              <a:t>INTRODUCTION</a:t>
            </a:r>
            <a:endParaRPr lang="en-NG" sz="9600" b="1" dirty="0">
              <a:solidFill>
                <a:schemeClr val="accent4">
                  <a:lumMod val="50000"/>
                </a:schemeClr>
              </a:solidFill>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557AB716-8992-5A73-44AD-EEDD4521559C}"/>
              </a:ext>
            </a:extLst>
          </p:cNvPr>
          <p:cNvSpPr>
            <a:spLocks noGrp="1"/>
          </p:cNvSpPr>
          <p:nvPr>
            <p:ph idx="1"/>
          </p:nvPr>
        </p:nvSpPr>
        <p:spPr>
          <a:xfrm>
            <a:off x="1334346" y="1978243"/>
            <a:ext cx="10058400" cy="1583266"/>
          </a:xfrm>
        </p:spPr>
        <p:txBody>
          <a:bodyPr>
            <a:normAutofit/>
          </a:bodyPr>
          <a:lstStyle/>
          <a:p>
            <a:r>
              <a:rPr lang="en-US" sz="2400" dirty="0">
                <a:latin typeface="Arial" panose="020B0604020202020204" pitchFamily="34" charset="0"/>
                <a:cs typeface="Arial" panose="020B0604020202020204" pitchFamily="34" charset="0"/>
              </a:rPr>
              <a:t>This is an analysis on a superstore Dataset to find patterns, trends and provide insight in order to give informed Data-Driven decision that aligns with organizational goals.</a:t>
            </a:r>
            <a:endParaRPr lang="en-NG"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4210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49DE0-D417-5424-1096-FDBFDF2BDF91}"/>
              </a:ext>
            </a:extLst>
          </p:cNvPr>
          <p:cNvSpPr>
            <a:spLocks noGrp="1"/>
          </p:cNvSpPr>
          <p:nvPr>
            <p:ph type="title"/>
          </p:nvPr>
        </p:nvSpPr>
        <p:spPr>
          <a:xfrm>
            <a:off x="2743199" y="938106"/>
            <a:ext cx="7687733" cy="1053884"/>
          </a:xfrm>
        </p:spPr>
        <p:txBody>
          <a:bodyPr>
            <a:noAutofit/>
          </a:bodyPr>
          <a:lstStyle/>
          <a:p>
            <a:r>
              <a:rPr lang="en-US" sz="9600" b="1" dirty="0">
                <a:solidFill>
                  <a:schemeClr val="accent4">
                    <a:lumMod val="50000"/>
                  </a:schemeClr>
                </a:solidFill>
                <a:latin typeface="Arial" panose="020B0604020202020204" pitchFamily="34" charset="0"/>
                <a:cs typeface="Arial" panose="020B0604020202020204" pitchFamily="34" charset="0"/>
              </a:rPr>
              <a:t>OBJECTIVE</a:t>
            </a:r>
            <a:endParaRPr lang="en-NG" sz="9600" b="1" dirty="0">
              <a:solidFill>
                <a:schemeClr val="accent4">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CB3F8F0-CFF7-AF4E-14DC-F64A73C45D61}"/>
              </a:ext>
            </a:extLst>
          </p:cNvPr>
          <p:cNvSpPr>
            <a:spLocks noGrp="1"/>
          </p:cNvSpPr>
          <p:nvPr>
            <p:ph idx="1"/>
          </p:nvPr>
        </p:nvSpPr>
        <p:spPr>
          <a:xfrm>
            <a:off x="1097280" y="1896534"/>
            <a:ext cx="10058400" cy="4023360"/>
          </a:xfrm>
        </p:spPr>
        <p:txBody>
          <a:bodyPr>
            <a:normAutofit/>
          </a:bodyPr>
          <a:lstStyle/>
          <a:p>
            <a:r>
              <a:rPr lang="en-US" sz="2400" dirty="0"/>
              <a:t>1. Evaluate highest performing region</a:t>
            </a:r>
          </a:p>
          <a:p>
            <a:r>
              <a:rPr lang="en-US" sz="2400" dirty="0"/>
              <a:t>2. Evaluate highest performing product</a:t>
            </a:r>
          </a:p>
          <a:p>
            <a:r>
              <a:rPr lang="en-US" sz="2400" dirty="0"/>
              <a:t>3. Analyze Trend of Sales</a:t>
            </a:r>
          </a:p>
          <a:p>
            <a:r>
              <a:rPr lang="en-US" sz="2400" dirty="0"/>
              <a:t>4. Determine customer segment performance</a:t>
            </a:r>
          </a:p>
          <a:p>
            <a:r>
              <a:rPr lang="en-US" sz="2400" dirty="0"/>
              <a:t>5. Find market with the most profit</a:t>
            </a:r>
          </a:p>
          <a:p>
            <a:r>
              <a:rPr lang="en-US" sz="2400" dirty="0"/>
              <a:t>6. Ascertain most used shipping mode and rate of shipping mode</a:t>
            </a:r>
          </a:p>
          <a:p>
            <a:r>
              <a:rPr lang="en-US" sz="2400" dirty="0"/>
              <a:t>7. Review the priority levels for different ship mode</a:t>
            </a:r>
          </a:p>
          <a:p>
            <a:r>
              <a:rPr lang="en-US" sz="2400" dirty="0"/>
              <a:t>8. Analyze trend of shipping cost</a:t>
            </a:r>
            <a:endParaRPr lang="en-NG" sz="2400" dirty="0"/>
          </a:p>
        </p:txBody>
      </p:sp>
    </p:spTree>
    <p:extLst>
      <p:ext uri="{BB962C8B-B14F-4D97-AF65-F5344CB8AC3E}">
        <p14:creationId xmlns:p14="http://schemas.microsoft.com/office/powerpoint/2010/main" val="1623431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37183A2-3BAC-5F77-084A-AEFDDA2D18B3}"/>
              </a:ext>
            </a:extLst>
          </p:cNvPr>
          <p:cNvSpPr>
            <a:spLocks noGrp="1"/>
          </p:cNvSpPr>
          <p:nvPr>
            <p:ph type="title"/>
          </p:nvPr>
        </p:nvSpPr>
        <p:spPr>
          <a:xfrm>
            <a:off x="1010921" y="365126"/>
            <a:ext cx="10732347" cy="1450757"/>
          </a:xfrm>
        </p:spPr>
        <p:txBody>
          <a:bodyPr>
            <a:normAutofit fontScale="90000"/>
          </a:bodyPr>
          <a:lstStyle/>
          <a:p>
            <a:r>
              <a:rPr lang="en-US" sz="9600" b="1" dirty="0">
                <a:solidFill>
                  <a:schemeClr val="accent4">
                    <a:lumMod val="50000"/>
                  </a:schemeClr>
                </a:solidFill>
              </a:rPr>
              <a:t>DATA </a:t>
            </a:r>
            <a:r>
              <a:rPr lang="en-US" sz="9600" b="1" dirty="0">
                <a:solidFill>
                  <a:schemeClr val="accent4">
                    <a:lumMod val="50000"/>
                  </a:schemeClr>
                </a:solidFill>
                <a:latin typeface="Arial" panose="020B0604020202020204" pitchFamily="34" charset="0"/>
                <a:cs typeface="Arial" panose="020B0604020202020204" pitchFamily="34" charset="0"/>
              </a:rPr>
              <a:t>PREPARATION</a:t>
            </a:r>
            <a:endParaRPr lang="en-NG" sz="9600" b="1" dirty="0">
              <a:solidFill>
                <a:schemeClr val="accent4">
                  <a:lumMod val="50000"/>
                </a:schemeClr>
              </a:solidFill>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D8230453-D45E-8337-6376-EDE94AAF20BD}"/>
              </a:ext>
            </a:extLst>
          </p:cNvPr>
          <p:cNvSpPr>
            <a:spLocks noGrp="1"/>
          </p:cNvSpPr>
          <p:nvPr>
            <p:ph sz="half" idx="1"/>
          </p:nvPr>
        </p:nvSpPr>
        <p:spPr>
          <a:xfrm>
            <a:off x="606213" y="2040467"/>
            <a:ext cx="3457788" cy="4207933"/>
          </a:xfrm>
        </p:spPr>
        <p:txBody>
          <a:bodyPr>
            <a:normAutofit/>
          </a:bodyPr>
          <a:lstStyle/>
          <a:p>
            <a:r>
              <a:rPr lang="en-US" sz="2400" b="1" dirty="0"/>
              <a:t>CLEANING:</a:t>
            </a:r>
          </a:p>
          <a:p>
            <a:r>
              <a:rPr lang="en-US" dirty="0"/>
              <a:t>The cleaning process was done in power query in which we checked for blanks, duplicate, spellings and inconsistencies. The data returned no blanks, duplicates, wrong spellings or Inconsistencies, each column were checked for right data type. It proves data quality and integrity.</a:t>
            </a:r>
            <a:endParaRPr lang="en-NG" dirty="0"/>
          </a:p>
        </p:txBody>
      </p:sp>
      <p:sp>
        <p:nvSpPr>
          <p:cNvPr id="9" name="Content Placeholder 8">
            <a:extLst>
              <a:ext uri="{FF2B5EF4-FFF2-40B4-BE49-F238E27FC236}">
                <a16:creationId xmlns:a16="http://schemas.microsoft.com/office/drawing/2014/main" id="{2D1B4854-E209-D68E-9840-354E0BDA71CE}"/>
              </a:ext>
            </a:extLst>
          </p:cNvPr>
          <p:cNvSpPr>
            <a:spLocks noGrp="1"/>
          </p:cNvSpPr>
          <p:nvPr>
            <p:ph sz="half" idx="2"/>
          </p:nvPr>
        </p:nvSpPr>
        <p:spPr>
          <a:xfrm>
            <a:off x="4981789" y="2048934"/>
            <a:ext cx="2790613" cy="4148666"/>
          </a:xfrm>
        </p:spPr>
        <p:txBody>
          <a:bodyPr>
            <a:normAutofit/>
          </a:bodyPr>
          <a:lstStyle/>
          <a:p>
            <a:r>
              <a:rPr lang="en-US" sz="2400" b="1" dirty="0"/>
              <a:t>Transformation: </a:t>
            </a:r>
          </a:p>
          <a:p>
            <a:r>
              <a:rPr lang="en-US" dirty="0"/>
              <a:t>The Data was separated into four different queries and the columns were re-ordered into the right format.</a:t>
            </a:r>
            <a:endParaRPr lang="en-NG" dirty="0"/>
          </a:p>
        </p:txBody>
      </p:sp>
      <p:sp>
        <p:nvSpPr>
          <p:cNvPr id="10" name="Content Placeholder 8">
            <a:extLst>
              <a:ext uri="{FF2B5EF4-FFF2-40B4-BE49-F238E27FC236}">
                <a16:creationId xmlns:a16="http://schemas.microsoft.com/office/drawing/2014/main" id="{9159A0AE-E694-F1F2-7E2F-6299E6F8264E}"/>
              </a:ext>
            </a:extLst>
          </p:cNvPr>
          <p:cNvSpPr txBox="1">
            <a:spLocks/>
          </p:cNvSpPr>
          <p:nvPr/>
        </p:nvSpPr>
        <p:spPr>
          <a:xfrm>
            <a:off x="8978055" y="2048934"/>
            <a:ext cx="2790613" cy="4148666"/>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400" b="1" dirty="0"/>
              <a:t>MODELING: </a:t>
            </a:r>
          </a:p>
          <a:p>
            <a:r>
              <a:rPr lang="en-US" dirty="0"/>
              <a:t>I created a relationship in Excel to connect all four queries to the fact table (ORDERS QUERIE) into order to carry out a PIVOT TABLE ANALYSIS</a:t>
            </a:r>
            <a:r>
              <a:rPr lang="en-US" sz="2400" b="1" dirty="0"/>
              <a:t>.</a:t>
            </a:r>
          </a:p>
        </p:txBody>
      </p:sp>
      <p:cxnSp>
        <p:nvCxnSpPr>
          <p:cNvPr id="12" name="Straight Connector 11">
            <a:extLst>
              <a:ext uri="{FF2B5EF4-FFF2-40B4-BE49-F238E27FC236}">
                <a16:creationId xmlns:a16="http://schemas.microsoft.com/office/drawing/2014/main" id="{F986643A-F7C1-8DAF-ABEB-E59593634A29}"/>
              </a:ext>
            </a:extLst>
          </p:cNvPr>
          <p:cNvCxnSpPr/>
          <p:nvPr/>
        </p:nvCxnSpPr>
        <p:spPr>
          <a:xfrm>
            <a:off x="4351868" y="2040467"/>
            <a:ext cx="0" cy="40047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19B4F48-84BE-489E-F086-EC53FD1EB3C3}"/>
              </a:ext>
            </a:extLst>
          </p:cNvPr>
          <p:cNvCxnSpPr/>
          <p:nvPr/>
        </p:nvCxnSpPr>
        <p:spPr>
          <a:xfrm>
            <a:off x="8449734" y="2040466"/>
            <a:ext cx="0" cy="400473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6172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114FE9-30B7-614D-C451-44219349989F}"/>
              </a:ext>
            </a:extLst>
          </p:cNvPr>
          <p:cNvSpPr>
            <a:spLocks noGrp="1"/>
          </p:cNvSpPr>
          <p:nvPr>
            <p:ph type="title" idx="4294967295"/>
          </p:nvPr>
        </p:nvSpPr>
        <p:spPr>
          <a:xfrm>
            <a:off x="3234267" y="219605"/>
            <a:ext cx="5219700" cy="508529"/>
          </a:xfrm>
        </p:spPr>
        <p:txBody>
          <a:bodyPr>
            <a:normAutofit fontScale="90000"/>
          </a:bodyPr>
          <a:lstStyle/>
          <a:p>
            <a:r>
              <a:rPr lang="en-US" sz="5400" b="1" dirty="0">
                <a:solidFill>
                  <a:schemeClr val="accent4">
                    <a:lumMod val="50000"/>
                  </a:schemeClr>
                </a:solidFill>
              </a:rPr>
              <a:t>DASHBOARD VIEW</a:t>
            </a:r>
            <a:endParaRPr lang="en-NG" sz="5400" b="1" dirty="0">
              <a:solidFill>
                <a:schemeClr val="accent4">
                  <a:lumMod val="50000"/>
                </a:schemeClr>
              </a:solidFill>
            </a:endParaRPr>
          </a:p>
        </p:txBody>
      </p:sp>
      <p:pic>
        <p:nvPicPr>
          <p:cNvPr id="7" name="Picture 6">
            <a:extLst>
              <a:ext uri="{FF2B5EF4-FFF2-40B4-BE49-F238E27FC236}">
                <a16:creationId xmlns:a16="http://schemas.microsoft.com/office/drawing/2014/main" id="{4D4D1F18-4D0F-57D9-4A2E-124CA7A70B73}"/>
              </a:ext>
            </a:extLst>
          </p:cNvPr>
          <p:cNvPicPr>
            <a:picLocks noChangeAspect="1"/>
          </p:cNvPicPr>
          <p:nvPr/>
        </p:nvPicPr>
        <p:blipFill>
          <a:blip r:embed="rId2"/>
          <a:stretch>
            <a:fillRect/>
          </a:stretch>
        </p:blipFill>
        <p:spPr>
          <a:xfrm>
            <a:off x="135464" y="626537"/>
            <a:ext cx="11921067" cy="5587998"/>
          </a:xfrm>
          <a:prstGeom prst="rect">
            <a:avLst/>
          </a:prstGeom>
        </p:spPr>
      </p:pic>
    </p:spTree>
    <p:extLst>
      <p:ext uri="{BB962C8B-B14F-4D97-AF65-F5344CB8AC3E}">
        <p14:creationId xmlns:p14="http://schemas.microsoft.com/office/powerpoint/2010/main" val="1161179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BAB1C5-E043-4B96-00E3-4F617CF1DA0B}"/>
              </a:ext>
            </a:extLst>
          </p:cNvPr>
          <p:cNvPicPr>
            <a:picLocks noChangeAspect="1"/>
          </p:cNvPicPr>
          <p:nvPr/>
        </p:nvPicPr>
        <p:blipFill>
          <a:blip r:embed="rId2"/>
          <a:stretch>
            <a:fillRect/>
          </a:stretch>
        </p:blipFill>
        <p:spPr>
          <a:xfrm>
            <a:off x="152401" y="152401"/>
            <a:ext cx="11870266" cy="6045199"/>
          </a:xfrm>
          <a:prstGeom prst="rect">
            <a:avLst/>
          </a:prstGeom>
        </p:spPr>
      </p:pic>
    </p:spTree>
    <p:extLst>
      <p:ext uri="{BB962C8B-B14F-4D97-AF65-F5344CB8AC3E}">
        <p14:creationId xmlns:p14="http://schemas.microsoft.com/office/powerpoint/2010/main" val="867155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C0811-E4D9-9884-35FE-5F726A358E07}"/>
              </a:ext>
            </a:extLst>
          </p:cNvPr>
          <p:cNvSpPr>
            <a:spLocks noGrp="1"/>
          </p:cNvSpPr>
          <p:nvPr>
            <p:ph type="title"/>
          </p:nvPr>
        </p:nvSpPr>
        <p:spPr>
          <a:xfrm>
            <a:off x="2915920" y="394977"/>
            <a:ext cx="6421120" cy="1450757"/>
          </a:xfrm>
        </p:spPr>
        <p:txBody>
          <a:bodyPr>
            <a:normAutofit/>
          </a:bodyPr>
          <a:lstStyle/>
          <a:p>
            <a:r>
              <a:rPr lang="en-US" sz="9600" b="1" dirty="0">
                <a:solidFill>
                  <a:schemeClr val="accent4">
                    <a:lumMod val="50000"/>
                  </a:schemeClr>
                </a:solidFill>
                <a:latin typeface="Arial" panose="020B0604020202020204" pitchFamily="34" charset="0"/>
                <a:cs typeface="Arial" panose="020B0604020202020204" pitchFamily="34" charset="0"/>
              </a:rPr>
              <a:t>FINDINGS</a:t>
            </a:r>
            <a:endParaRPr lang="en-NG" sz="9600" b="1" dirty="0">
              <a:solidFill>
                <a:schemeClr val="accent4">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28A4FD4-629F-5C52-0696-B3356531D9B1}"/>
              </a:ext>
            </a:extLst>
          </p:cNvPr>
          <p:cNvSpPr>
            <a:spLocks noGrp="1"/>
          </p:cNvSpPr>
          <p:nvPr>
            <p:ph idx="1"/>
          </p:nvPr>
        </p:nvSpPr>
        <p:spPr>
          <a:xfrm>
            <a:off x="1097280" y="1845733"/>
            <a:ext cx="10058400" cy="4165599"/>
          </a:xfrm>
        </p:spPr>
        <p:txBody>
          <a:bodyPr>
            <a:noAutofit/>
          </a:bodyPr>
          <a:lstStyle/>
          <a:p>
            <a:r>
              <a:rPr lang="en-US" dirty="0"/>
              <a:t>1. Central region recorded the most performance across all regions.</a:t>
            </a:r>
          </a:p>
          <a:p>
            <a:r>
              <a:rPr lang="en-US" dirty="0"/>
              <a:t>2. Binders recorded the most performance by quantity sold.</a:t>
            </a:r>
          </a:p>
          <a:p>
            <a:r>
              <a:rPr lang="en-US" dirty="0"/>
              <a:t>3. There is an upward trend in sales through the years.</a:t>
            </a:r>
          </a:p>
          <a:p>
            <a:r>
              <a:rPr lang="en-US" dirty="0"/>
              <a:t>4.  Consumer segment drive the most sales.</a:t>
            </a:r>
          </a:p>
          <a:p>
            <a:r>
              <a:rPr lang="en-US" dirty="0"/>
              <a:t>5.  Most of company's profit come from 2 markets which are APAC and EU.</a:t>
            </a:r>
          </a:p>
          <a:p>
            <a:r>
              <a:rPr lang="en-US" dirty="0"/>
              <a:t>6.  Standard Class is the most used ship mode with 60% which its driven by its lower ship rate while same day delivery has the highest rate but second to the last ship mode used.</a:t>
            </a:r>
          </a:p>
          <a:p>
            <a:r>
              <a:rPr lang="en-US" dirty="0"/>
              <a:t>7.  While Standard class has the highest delivery priority, it also records the lowest priority. Critical priority delivery is mostly recorded for first class and second class ship mode.</a:t>
            </a:r>
          </a:p>
          <a:p>
            <a:r>
              <a:rPr lang="en-US" dirty="0"/>
              <a:t>8.  cost of shipping face an upward trend for every ship most, which raises concerns for constant increase in shipping cost.</a:t>
            </a:r>
            <a:endParaRPr lang="en-NG" dirty="0"/>
          </a:p>
        </p:txBody>
      </p:sp>
    </p:spTree>
    <p:extLst>
      <p:ext uri="{BB962C8B-B14F-4D97-AF65-F5344CB8AC3E}">
        <p14:creationId xmlns:p14="http://schemas.microsoft.com/office/powerpoint/2010/main" val="2941885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68C6B-EDC7-117D-3988-D03A4BB51DBC}"/>
              </a:ext>
            </a:extLst>
          </p:cNvPr>
          <p:cNvSpPr>
            <a:spLocks noGrp="1"/>
          </p:cNvSpPr>
          <p:nvPr>
            <p:ph type="title"/>
          </p:nvPr>
        </p:nvSpPr>
        <p:spPr>
          <a:xfrm>
            <a:off x="911013" y="394977"/>
            <a:ext cx="10789920" cy="1450757"/>
          </a:xfrm>
        </p:spPr>
        <p:txBody>
          <a:bodyPr>
            <a:noAutofit/>
          </a:bodyPr>
          <a:lstStyle/>
          <a:p>
            <a:r>
              <a:rPr lang="en-US" sz="4400" b="1" dirty="0">
                <a:solidFill>
                  <a:schemeClr val="accent4">
                    <a:lumMod val="50000"/>
                  </a:schemeClr>
                </a:solidFill>
                <a:latin typeface="Arial" panose="020B0604020202020204" pitchFamily="34" charset="0"/>
                <a:cs typeface="Arial" panose="020B0604020202020204" pitchFamily="34" charset="0"/>
              </a:rPr>
              <a:t>CONCLUSION AND RECOMMENDATION</a:t>
            </a:r>
            <a:endParaRPr lang="en-NG" sz="4400" b="1" dirty="0">
              <a:solidFill>
                <a:schemeClr val="accent4">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A64DE4B-EF31-BEB1-601F-9D1ED55E020E}"/>
              </a:ext>
            </a:extLst>
          </p:cNvPr>
          <p:cNvSpPr>
            <a:spLocks noGrp="1"/>
          </p:cNvSpPr>
          <p:nvPr>
            <p:ph idx="1"/>
          </p:nvPr>
        </p:nvSpPr>
        <p:spPr>
          <a:xfrm>
            <a:off x="1097280" y="1811868"/>
            <a:ext cx="10058400" cy="3742266"/>
          </a:xfrm>
        </p:spPr>
        <p:txBody>
          <a:bodyPr>
            <a:noAutofit/>
          </a:bodyPr>
          <a:lstStyle/>
          <a:p>
            <a:pPr marL="72000">
              <a:lnSpc>
                <a:spcPct val="100000"/>
              </a:lnSpc>
              <a:spcBef>
                <a:spcPts val="600"/>
              </a:spcBef>
              <a:spcAft>
                <a:spcPts val="0"/>
              </a:spcAft>
            </a:pPr>
            <a:r>
              <a:rPr lang="en-US" dirty="0"/>
              <a:t>1. Target Consumer Segment: Continue to prioritize the consumer segment, which drives the most sales, and explore opportunities to upsell or cross-sell.</a:t>
            </a:r>
          </a:p>
          <a:p>
            <a:pPr marL="72000">
              <a:lnSpc>
                <a:spcPct val="100000"/>
              </a:lnSpc>
              <a:spcBef>
                <a:spcPts val="600"/>
              </a:spcBef>
              <a:spcAft>
                <a:spcPts val="0"/>
              </a:spcAft>
            </a:pPr>
            <a:r>
              <a:rPr lang="en-US" dirty="0"/>
              <a:t>2. Implement marketing strategy used in Central region on the least performing region in order to promote sales.</a:t>
            </a:r>
          </a:p>
          <a:p>
            <a:pPr marL="72000">
              <a:lnSpc>
                <a:spcPct val="100000"/>
              </a:lnSpc>
              <a:spcBef>
                <a:spcPts val="600"/>
              </a:spcBef>
              <a:spcAft>
                <a:spcPts val="0"/>
              </a:spcAft>
            </a:pPr>
            <a:r>
              <a:rPr lang="en-US" dirty="0"/>
              <a:t>3. Push Binders Sales: Capitalize on the success of binders by exploring ways to increase their sales, such as targeted marketing or promotions.</a:t>
            </a:r>
          </a:p>
          <a:p>
            <a:pPr marL="72000">
              <a:lnSpc>
                <a:spcPct val="100000"/>
              </a:lnSpc>
              <a:spcBef>
                <a:spcPts val="600"/>
              </a:spcBef>
              <a:spcAft>
                <a:spcPts val="0"/>
              </a:spcAft>
            </a:pPr>
            <a:r>
              <a:rPr lang="en-US" dirty="0"/>
              <a:t>4. Increase profit margin or reduce manufacturing cost in order to get a higher profit.</a:t>
            </a:r>
          </a:p>
          <a:p>
            <a:pPr marL="72000">
              <a:lnSpc>
                <a:spcPct val="100000"/>
              </a:lnSpc>
              <a:spcBef>
                <a:spcPts val="600"/>
              </a:spcBef>
              <a:spcAft>
                <a:spcPts val="0"/>
              </a:spcAft>
            </a:pPr>
            <a:r>
              <a:rPr lang="en-US" dirty="0"/>
              <a:t>5. Review Shipping Modes: Analyze the shipping modes, particularly Same Day Delivery, to understand customer needs and optimize shipping strategies.</a:t>
            </a:r>
          </a:p>
          <a:p>
            <a:pPr marL="72000">
              <a:lnSpc>
                <a:spcPct val="100000"/>
              </a:lnSpc>
              <a:spcBef>
                <a:spcPts val="600"/>
              </a:spcBef>
              <a:spcAft>
                <a:spcPts val="0"/>
              </a:spcAft>
            </a:pPr>
            <a:r>
              <a:rPr lang="en-US" dirty="0"/>
              <a:t>6. Review Shipping Modes: Analyze the shipping modes, particularly Same Day Delivery, to understand customer needs and optimize shipping strategies.</a:t>
            </a:r>
          </a:p>
          <a:p>
            <a:pPr marL="72000">
              <a:lnSpc>
                <a:spcPct val="100000"/>
              </a:lnSpc>
              <a:spcBef>
                <a:spcPts val="600"/>
              </a:spcBef>
              <a:spcAft>
                <a:spcPts val="0"/>
              </a:spcAft>
            </a:pPr>
            <a:r>
              <a:rPr lang="en-US" dirty="0"/>
              <a:t>7. Optimize Shipping Costs: Investigate ways to mitigate the upward trend in shipping costs, especially for Standard Class, to maintain profitability.</a:t>
            </a:r>
            <a:endParaRPr lang="en-NG" dirty="0"/>
          </a:p>
        </p:txBody>
      </p:sp>
    </p:spTree>
    <p:extLst>
      <p:ext uri="{BB962C8B-B14F-4D97-AF65-F5344CB8AC3E}">
        <p14:creationId xmlns:p14="http://schemas.microsoft.com/office/powerpoint/2010/main" val="706806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966C0-AC94-10DF-BC3A-B9F4B5A56F22}"/>
              </a:ext>
            </a:extLst>
          </p:cNvPr>
          <p:cNvSpPr>
            <a:spLocks noGrp="1"/>
          </p:cNvSpPr>
          <p:nvPr>
            <p:ph type="title"/>
          </p:nvPr>
        </p:nvSpPr>
        <p:spPr>
          <a:xfrm>
            <a:off x="2377440" y="1978243"/>
            <a:ext cx="7437120" cy="1450757"/>
          </a:xfrm>
        </p:spPr>
        <p:txBody>
          <a:bodyPr>
            <a:normAutofit/>
          </a:bodyPr>
          <a:lstStyle/>
          <a:p>
            <a:r>
              <a:rPr lang="en-US" sz="9600" b="1" dirty="0">
                <a:solidFill>
                  <a:schemeClr val="accent4">
                    <a:lumMod val="50000"/>
                  </a:schemeClr>
                </a:solidFill>
                <a:latin typeface="Arial" panose="020B0604020202020204" pitchFamily="34" charset="0"/>
                <a:cs typeface="Arial" panose="020B0604020202020204" pitchFamily="34" charset="0"/>
              </a:rPr>
              <a:t>THANK YOU</a:t>
            </a:r>
            <a:endParaRPr lang="en-NG" sz="9600" b="1" dirty="0">
              <a:solidFill>
                <a:schemeClr val="accent4">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7633547"/>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docProps/app.xml><?xml version="1.0" encoding="utf-8"?>
<Properties xmlns="http://schemas.openxmlformats.org/officeDocument/2006/extended-properties" xmlns:vt="http://schemas.openxmlformats.org/officeDocument/2006/docPropsVTypes">
  <Template>Retrospect</Template>
  <TotalTime>27</TotalTime>
  <Words>540</Words>
  <Application>Microsoft Office PowerPoint</Application>
  <PresentationFormat>Widescreen</PresentationFormat>
  <Paragraphs>39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Retrospect</vt:lpstr>
      <vt:lpstr>SUPERSTORE SALE ANALYSIS</vt:lpstr>
      <vt:lpstr>INTRODUCTION</vt:lpstr>
      <vt:lpstr>OBJECTIVE</vt:lpstr>
      <vt:lpstr>DATA PREPARATION</vt:lpstr>
      <vt:lpstr>DASHBOARD VIEW</vt:lpstr>
      <vt:lpstr>PowerPoint Presentation</vt:lpstr>
      <vt:lpstr>FINDINGS</vt:lpstr>
      <vt:lpstr>CONCLUSION AND RECOMMENDATION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anthony azubuike</dc:creator>
  <cp:lastModifiedBy>anthony azubuike</cp:lastModifiedBy>
  <cp:revision>1</cp:revision>
  <dcterms:created xsi:type="dcterms:W3CDTF">2026-02-08T14:28:04Z</dcterms:created>
  <dcterms:modified xsi:type="dcterms:W3CDTF">2026-02-08T14:55:40Z</dcterms:modified>
</cp:coreProperties>
</file>